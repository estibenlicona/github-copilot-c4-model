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86705"/>
            <a:ext cx="551111" cy="419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94111" y="805755"/>
            <a:ext cx="9525" cy="381000"/>
          </a:xfrm>
          <a:prstGeom prst="rect">
            <a:avLst/>
          </a:prstGeom>
          <a:solidFill>
            <a:srgbClr val="DEDBD1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236" y="858143"/>
            <a:ext cx="644426" cy="2762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940144" y="704850"/>
            <a:ext cx="3433456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1350" spc="162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INTERCAMBIO DE CONOCIMIENTO VISTA DE ALTO NIVEL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14400" y="2430661"/>
            <a:ext cx="145199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285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TUYA → GRUPO ÉXITO</a:t>
            </a:r>
            <a:endParaRPr lang="en-US" sz="1425" dirty="0"/>
          </a:p>
        </p:txBody>
      </p:sp>
      <p:sp>
        <p:nvSpPr>
          <p:cNvPr id="7" name="Text 3"/>
          <p:cNvSpPr/>
          <p:nvPr/>
        </p:nvSpPr>
        <p:spPr>
          <a:xfrm>
            <a:off x="914400" y="2887861"/>
            <a:ext cx="14519910" cy="2614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0" b="1" spc="-207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 en nuestro proceso de desarrollo</a:t>
            </a:r>
            <a:endParaRPr lang="en-US" sz="6900" dirty="0"/>
          </a:p>
        </p:txBody>
      </p:sp>
      <p:sp>
        <p:nvSpPr>
          <p:cNvPr id="8" name="Text 4"/>
          <p:cNvSpPr/>
          <p:nvPr/>
        </p:nvSpPr>
        <p:spPr>
          <a:xfrm>
            <a:off x="914400" y="5749826"/>
            <a:ext cx="145199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B314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Dónde ya estamos avanzando.</a:t>
            </a:r>
            <a:endParaRPr lang="en-US" sz="2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63050"/>
            <a:ext cx="164592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0485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285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VEREMOS HOY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952976" cy="567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50" b="1" spc="-8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Itinerario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3984278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060353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3279428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476500" y="3341340"/>
            <a:ext cx="941832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proceso de desarrollo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803380" y="3336578"/>
            <a:ext cx="54940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41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 DE ALTO NIVEL — DE LA PRIORIZACIÓN A LA OPERACIÓN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4965353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4260503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76500" y="4322415"/>
            <a:ext cx="94600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Frentes con IA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1845076" y="4412903"/>
            <a:ext cx="54523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41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 · DESARROLLO · PRUEBAS · OPERACIONES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5946428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5241578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76500" y="5303490"/>
            <a:ext cx="1046147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 qué GitHub Copilot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846539" y="5393978"/>
            <a:ext cx="44508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41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CRITERIOS DE DECISIÓN Y RUTA DE ADOPCIÓN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6927503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6222653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476500" y="6284565"/>
            <a:ext cx="109064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Métricas &amp; time-to-market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291548" y="6375053"/>
            <a:ext cx="40058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41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RESULTADOS QUE YA ESTAMOS VIENDO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14400" y="7908578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7203728"/>
            <a:ext cx="121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476500" y="7265640"/>
            <a:ext cx="109064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spc="-2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 en vivo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3291548" y="7356128"/>
            <a:ext cx="40058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spc="41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MIGRACIÓN DE API · .NET 3.1 → .NET 8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14400" y="9305925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486900"/>
            <a:ext cx="17738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TUYA </a:t>
            </a:r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GRUPO ÉXITO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6430476" y="9501188"/>
            <a:ext cx="101932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ITINERARIO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66750"/>
            <a:ext cx="551111" cy="419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56011" y="685800"/>
            <a:ext cx="9525" cy="381000"/>
          </a:xfrm>
          <a:prstGeom prst="rect">
            <a:avLst/>
          </a:prstGeom>
          <a:solidFill>
            <a:srgbClr val="DEDBD1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36" y="738188"/>
            <a:ext cx="644426" cy="2762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456843" y="795338"/>
            <a:ext cx="20310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 DE ALTO NIVEL</a:t>
            </a:r>
            <a:endParaRPr lang="en-US" sz="1125" dirty="0"/>
          </a:p>
        </p:txBody>
      </p:sp>
      <p:sp>
        <p:nvSpPr>
          <p:cNvPr id="6" name="Shape 2"/>
          <p:cNvSpPr/>
          <p:nvPr/>
        </p:nvSpPr>
        <p:spPr>
          <a:xfrm>
            <a:off x="876300" y="1371600"/>
            <a:ext cx="514350" cy="85725"/>
          </a:xfrm>
          <a:prstGeom prst="rect">
            <a:avLst/>
          </a:prstGeom>
          <a:solidFill>
            <a:srgbClr val="ED1C29"/>
          </a:solidFill>
          <a:ln/>
        </p:spPr>
      </p:sp>
      <p:sp>
        <p:nvSpPr>
          <p:cNvPr id="7" name="Text 3"/>
          <p:cNvSpPr/>
          <p:nvPr/>
        </p:nvSpPr>
        <p:spPr>
          <a:xfrm>
            <a:off x="876300" y="1628775"/>
            <a:ext cx="1703146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spc="-69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Proceso de desarrollo de soluciones</a:t>
            </a:r>
            <a:endParaRPr lang="en-US" sz="3450" dirty="0"/>
          </a:p>
        </p:txBody>
      </p:sp>
      <p:sp>
        <p:nvSpPr>
          <p:cNvPr id="8" name="Shape 4"/>
          <p:cNvSpPr/>
          <p:nvPr/>
        </p:nvSpPr>
        <p:spPr>
          <a:xfrm>
            <a:off x="876300" y="5710238"/>
            <a:ext cx="16116300" cy="19050"/>
          </a:xfrm>
          <a:prstGeom prst="rect">
            <a:avLst/>
          </a:prstGeom>
          <a:solidFill>
            <a:srgbClr val="1A1714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25" y="3638252"/>
            <a:ext cx="361950" cy="361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6300" y="41621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b="1" spc="-3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Priorización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876300" y="45644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DIRECCIÓN DE TECNOLOGÍA</a:t>
            </a:r>
            <a:endParaRPr lang="en-US" sz="1088" dirty="0"/>
          </a:p>
        </p:txBody>
      </p:sp>
      <p:sp>
        <p:nvSpPr>
          <p:cNvPr id="12" name="Shape 7"/>
          <p:cNvSpPr/>
          <p:nvPr/>
        </p:nvSpPr>
        <p:spPr>
          <a:xfrm>
            <a:off x="20478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13" name="Shape 8"/>
          <p:cNvSpPr/>
          <p:nvPr/>
        </p:nvSpPr>
        <p:spPr>
          <a:xfrm>
            <a:off x="17145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9431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20097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0767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3053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3719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410075" y="57102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6672263"/>
            <a:ext cx="361950" cy="3619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238500" y="7196138"/>
            <a:ext cx="236220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b="1" spc="-3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de Arquitectura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3238500" y="7886402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ARQUITECTURA</a:t>
            </a:r>
            <a:endParaRPr lang="en-US" sz="1088" dirty="0"/>
          </a:p>
        </p:txBody>
      </p:sp>
      <p:sp>
        <p:nvSpPr>
          <p:cNvPr id="23" name="Shape 17"/>
          <p:cNvSpPr/>
          <p:nvPr/>
        </p:nvSpPr>
        <p:spPr>
          <a:xfrm>
            <a:off x="4139654" y="820355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904" y="8251180"/>
            <a:ext cx="123825" cy="1238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415879" y="823689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3350270"/>
            <a:ext cx="361950" cy="3619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00700" y="3874145"/>
            <a:ext cx="2362200" cy="614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b="1" spc="-3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de Seguridad</a:t>
            </a:r>
            <a:endParaRPr lang="en-US" sz="2100" dirty="0"/>
          </a:p>
        </p:txBody>
      </p:sp>
      <p:sp>
        <p:nvSpPr>
          <p:cNvPr id="28" name="Text 20"/>
          <p:cNvSpPr/>
          <p:nvPr/>
        </p:nvSpPr>
        <p:spPr>
          <a:xfrm>
            <a:off x="5600700" y="45644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SEGURIDAD</a:t>
            </a:r>
            <a:endParaRPr lang="en-US" sz="1088" dirty="0"/>
          </a:p>
        </p:txBody>
      </p:sp>
      <p:sp>
        <p:nvSpPr>
          <p:cNvPr id="29" name="Shape 21"/>
          <p:cNvSpPr/>
          <p:nvPr/>
        </p:nvSpPr>
        <p:spPr>
          <a:xfrm>
            <a:off x="67722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30" name="Shape 22"/>
          <p:cNvSpPr/>
          <p:nvPr/>
        </p:nvSpPr>
        <p:spPr>
          <a:xfrm>
            <a:off x="64389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6675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67341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8011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0297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90963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9134475" y="57102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3025" y="6672263"/>
            <a:ext cx="361950" cy="3619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962900" y="7196138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b="1" spc="-3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Aprovisionamiento</a:t>
            </a:r>
            <a:endParaRPr lang="en-US" sz="2100" dirty="0"/>
          </a:p>
        </p:txBody>
      </p:sp>
      <p:sp>
        <p:nvSpPr>
          <p:cNvPr id="39" name="Text 30"/>
          <p:cNvSpPr/>
          <p:nvPr/>
        </p:nvSpPr>
        <p:spPr>
          <a:xfrm>
            <a:off x="7962900" y="759842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NUBE &amp; DEVOPS</a:t>
            </a:r>
            <a:endParaRPr lang="en-US" sz="1088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5225" y="3295352"/>
            <a:ext cx="361950" cy="36195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325100" y="38192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b="1" spc="-3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Desarrollo</a:t>
            </a:r>
            <a:endParaRPr lang="en-US" sz="2100" dirty="0"/>
          </a:p>
        </p:txBody>
      </p:sp>
      <p:sp>
        <p:nvSpPr>
          <p:cNvPr id="42" name="Text 32"/>
          <p:cNvSpPr/>
          <p:nvPr/>
        </p:nvSpPr>
        <p:spPr>
          <a:xfrm>
            <a:off x="10325100" y="42215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DESARROLLO</a:t>
            </a:r>
            <a:endParaRPr lang="en-US" sz="1088" dirty="0"/>
          </a:p>
        </p:txBody>
      </p:sp>
      <p:sp>
        <p:nvSpPr>
          <p:cNvPr id="43" name="Shape 33"/>
          <p:cNvSpPr/>
          <p:nvPr/>
        </p:nvSpPr>
        <p:spPr>
          <a:xfrm>
            <a:off x="11226254" y="4538663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21504" y="4586288"/>
            <a:ext cx="123825" cy="123825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1502479" y="4572000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114966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47" name="Shape 36"/>
          <p:cNvSpPr/>
          <p:nvPr/>
        </p:nvSpPr>
        <p:spPr>
          <a:xfrm>
            <a:off x="111633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113919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9" name="Shape 38"/>
          <p:cNvSpPr/>
          <p:nvPr/>
        </p:nvSpPr>
        <p:spPr>
          <a:xfrm>
            <a:off x="114585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135255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137541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52" name="Shape 41"/>
          <p:cNvSpPr/>
          <p:nvPr/>
        </p:nvSpPr>
        <p:spPr>
          <a:xfrm>
            <a:off x="138207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13858875" y="57102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87425" y="6672263"/>
            <a:ext cx="361950" cy="36195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12687300" y="7196138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b="1" spc="-3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Pruebas</a:t>
            </a:r>
            <a:endParaRPr lang="en-US" sz="2100" dirty="0"/>
          </a:p>
        </p:txBody>
      </p:sp>
      <p:sp>
        <p:nvSpPr>
          <p:cNvPr id="56" name="Text 44"/>
          <p:cNvSpPr/>
          <p:nvPr/>
        </p:nvSpPr>
        <p:spPr>
          <a:xfrm>
            <a:off x="12687300" y="759842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ASEGURAMIENTO DE CALIDAD</a:t>
            </a:r>
            <a:endParaRPr lang="en-US" sz="1088" dirty="0"/>
          </a:p>
        </p:txBody>
      </p:sp>
      <p:sp>
        <p:nvSpPr>
          <p:cNvPr id="57" name="Shape 45"/>
          <p:cNvSpPr/>
          <p:nvPr/>
        </p:nvSpPr>
        <p:spPr>
          <a:xfrm>
            <a:off x="13588454" y="7915573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83704" y="7963198"/>
            <a:ext cx="123825" cy="123825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13864679" y="7948910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49625" y="3295352"/>
            <a:ext cx="361950" cy="361950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15049500" y="3819227"/>
            <a:ext cx="2362200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b="1" spc="-3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Entrega</a:t>
            </a:r>
            <a:endParaRPr lang="en-US" sz="2100" dirty="0"/>
          </a:p>
        </p:txBody>
      </p:sp>
      <p:sp>
        <p:nvSpPr>
          <p:cNvPr id="62" name="Text 48"/>
          <p:cNvSpPr/>
          <p:nvPr/>
        </p:nvSpPr>
        <p:spPr>
          <a:xfrm>
            <a:off x="15049500" y="4221510"/>
            <a:ext cx="236220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 · SOPORTE</a:t>
            </a:r>
            <a:endParaRPr lang="en-US" sz="1088" dirty="0"/>
          </a:p>
        </p:txBody>
      </p:sp>
      <p:sp>
        <p:nvSpPr>
          <p:cNvPr id="63" name="Shape 49"/>
          <p:cNvSpPr/>
          <p:nvPr/>
        </p:nvSpPr>
        <p:spPr>
          <a:xfrm>
            <a:off x="15950654" y="4538663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45904" y="4586288"/>
            <a:ext cx="123825" cy="123825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16226879" y="4572000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sp>
        <p:nvSpPr>
          <p:cNvPr id="66" name="Shape 51"/>
          <p:cNvSpPr/>
          <p:nvPr/>
        </p:nvSpPr>
        <p:spPr>
          <a:xfrm>
            <a:off x="16221075" y="4795838"/>
            <a:ext cx="19050" cy="914400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67" name="Shape 52"/>
          <p:cNvSpPr/>
          <p:nvPr/>
        </p:nvSpPr>
        <p:spPr>
          <a:xfrm>
            <a:off x="15887700" y="5367338"/>
            <a:ext cx="685800" cy="6858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68" name="Text 53"/>
          <p:cNvSpPr/>
          <p:nvPr/>
        </p:nvSpPr>
        <p:spPr>
          <a:xfrm>
            <a:off x="16116300" y="5581650"/>
            <a:ext cx="304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69" name="Shape 54"/>
          <p:cNvSpPr/>
          <p:nvPr/>
        </p:nvSpPr>
        <p:spPr>
          <a:xfrm>
            <a:off x="16182975" y="5338763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70" name="Shape 55"/>
          <p:cNvSpPr/>
          <p:nvPr/>
        </p:nvSpPr>
        <p:spPr>
          <a:xfrm rot="2700000">
            <a:off x="3142208" y="5614988"/>
            <a:ext cx="190500" cy="190500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71" name="Text 56"/>
          <p:cNvSpPr/>
          <p:nvPr/>
        </p:nvSpPr>
        <p:spPr>
          <a:xfrm>
            <a:off x="2437358" y="6091238"/>
            <a:ext cx="1600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050" dirty="0"/>
          </a:p>
        </p:txBody>
      </p:sp>
      <p:sp>
        <p:nvSpPr>
          <p:cNvPr id="72" name="Shape 57"/>
          <p:cNvSpPr/>
          <p:nvPr/>
        </p:nvSpPr>
        <p:spPr>
          <a:xfrm rot="2700000">
            <a:off x="14953506" y="5614988"/>
            <a:ext cx="190500" cy="190500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73" name="Text 58"/>
          <p:cNvSpPr/>
          <p:nvPr/>
        </p:nvSpPr>
        <p:spPr>
          <a:xfrm>
            <a:off x="14248656" y="6091238"/>
            <a:ext cx="16002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42" kern="0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Producción</a:t>
            </a:r>
            <a:endParaRPr lang="en-US" sz="1050" dirty="0"/>
          </a:p>
        </p:txBody>
      </p:sp>
      <p:sp>
        <p:nvSpPr>
          <p:cNvPr id="74" name="Shape 59"/>
          <p:cNvSpPr/>
          <p:nvPr/>
        </p:nvSpPr>
        <p:spPr>
          <a:xfrm>
            <a:off x="876300" y="9353550"/>
            <a:ext cx="165354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75" name="Shape 60"/>
          <p:cNvSpPr/>
          <p:nvPr/>
        </p:nvSpPr>
        <p:spPr>
          <a:xfrm>
            <a:off x="5091708" y="9591675"/>
            <a:ext cx="142875" cy="142875"/>
          </a:xfrm>
          <a:prstGeom prst="ellipse">
            <a:avLst/>
          </a:prstGeom>
          <a:ln w="19050">
            <a:solidFill>
              <a:srgbClr val="1A1714"/>
            </a:solidFill>
            <a:prstDash val="solid"/>
          </a:ln>
        </p:spPr>
      </p:sp>
      <p:sp>
        <p:nvSpPr>
          <p:cNvPr id="76" name="Text 61"/>
          <p:cNvSpPr/>
          <p:nvPr/>
        </p:nvSpPr>
        <p:spPr>
          <a:xfrm>
            <a:off x="5348883" y="9572625"/>
            <a:ext cx="12433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· FASE</a:t>
            </a:r>
            <a:endParaRPr lang="en-US" sz="1088" dirty="0"/>
          </a:p>
        </p:txBody>
      </p:sp>
      <p:sp>
        <p:nvSpPr>
          <p:cNvPr id="77" name="Shape 62"/>
          <p:cNvSpPr/>
          <p:nvPr/>
        </p:nvSpPr>
        <p:spPr>
          <a:xfrm>
            <a:off x="6916043" y="9577388"/>
            <a:ext cx="9525" cy="171450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78" name="Shape 63"/>
          <p:cNvSpPr/>
          <p:nvPr/>
        </p:nvSpPr>
        <p:spPr>
          <a:xfrm rot="2700000">
            <a:off x="7325618" y="9591675"/>
            <a:ext cx="142875" cy="142875"/>
          </a:xfrm>
          <a:prstGeom prst="rect">
            <a:avLst/>
          </a:prstGeom>
          <a:solidFill>
            <a:srgbClr val="ED1C2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79" name="Text 64"/>
          <p:cNvSpPr/>
          <p:nvPr/>
        </p:nvSpPr>
        <p:spPr>
          <a:xfrm>
            <a:off x="7582793" y="9572625"/>
            <a:ext cx="15126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HITO · COMPUERTA</a:t>
            </a:r>
            <a:endParaRPr lang="en-US" sz="1088" dirty="0"/>
          </a:p>
        </p:txBody>
      </p:sp>
      <p:sp>
        <p:nvSpPr>
          <p:cNvPr id="80" name="Shape 65"/>
          <p:cNvSpPr/>
          <p:nvPr/>
        </p:nvSpPr>
        <p:spPr>
          <a:xfrm>
            <a:off x="9419332" y="9577388"/>
            <a:ext cx="9525" cy="171450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81" name="Shape 66"/>
          <p:cNvSpPr/>
          <p:nvPr/>
        </p:nvSpPr>
        <p:spPr>
          <a:xfrm>
            <a:off x="9828907" y="955357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8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4157" y="9601200"/>
            <a:ext cx="123825" cy="123825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10105132" y="958691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sp>
        <p:nvSpPr>
          <p:cNvPr id="84" name="Text 68"/>
          <p:cNvSpPr/>
          <p:nvPr/>
        </p:nvSpPr>
        <p:spPr>
          <a:xfrm>
            <a:off x="10502950" y="9572625"/>
            <a:ext cx="27739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8" spc="54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EXPLORANDO CASOS DE USO CON IA</a:t>
            </a:r>
            <a:endParaRPr lang="en-US" sz="10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2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41774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285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FRENTES CON IA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3470374"/>
            <a:ext cx="16952976" cy="1755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0" b="1" spc="-207" kern="0" dirty="0">
                <a:solidFill>
                  <a:srgbClr val="F0EEE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Dónde aplicamos la IA hoy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5435501"/>
            <a:ext cx="9810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F4F2EE">
                    <a:alpha val="85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Cuatro frentes del proceso en los que ya estamos explorando y aplicando casos de uso con IA.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6683276"/>
            <a:ext cx="2165598" cy="457200"/>
          </a:xfrm>
          <a:prstGeom prst="roundRect">
            <a:avLst>
              <a:gd name="adj" fmla="val 50000"/>
            </a:avLst>
          </a:prstGeom>
          <a:ln w="9525">
            <a:solidFill>
              <a:srgbClr val="D861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425" y="6807101"/>
            <a:ext cx="14664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2599879" y="6826151"/>
            <a:ext cx="280095" cy="171450"/>
          </a:xfrm>
          <a:prstGeom prst="roundRect">
            <a:avLst>
              <a:gd name="adj" fmla="val 50000"/>
            </a:avLst>
          </a:prstGeom>
          <a:solidFill>
            <a:srgbClr val="F0EEE9"/>
          </a:solidFill>
          <a:ln/>
        </p:spPr>
      </p:sp>
      <p:sp>
        <p:nvSpPr>
          <p:cNvPr id="8" name="Text 6"/>
          <p:cNvSpPr/>
          <p:nvPr/>
        </p:nvSpPr>
        <p:spPr>
          <a:xfrm>
            <a:off x="2666554" y="6845201"/>
            <a:ext cx="2229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ED1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3213348" y="6683276"/>
            <a:ext cx="1933873" cy="457200"/>
          </a:xfrm>
          <a:prstGeom prst="roundRect">
            <a:avLst>
              <a:gd name="adj" fmla="val 50000"/>
            </a:avLst>
          </a:prstGeom>
          <a:ln w="9525">
            <a:solidFill>
              <a:srgbClr val="D861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373" y="6807101"/>
            <a:ext cx="12346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Desarrollo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4667101" y="6826151"/>
            <a:ext cx="280095" cy="171450"/>
          </a:xfrm>
          <a:prstGeom prst="roundRect">
            <a:avLst>
              <a:gd name="adj" fmla="val 50000"/>
            </a:avLst>
          </a:prstGeom>
          <a:solidFill>
            <a:srgbClr val="F0EEE9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776" y="6845201"/>
            <a:ext cx="2229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ED1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280571" y="6683276"/>
            <a:ext cx="2744837" cy="457200"/>
          </a:xfrm>
          <a:prstGeom prst="roundRect">
            <a:avLst>
              <a:gd name="adj" fmla="val 50000"/>
            </a:avLst>
          </a:prstGeom>
          <a:ln w="9525">
            <a:solidFill>
              <a:srgbClr val="D861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0596" y="6807101"/>
            <a:ext cx="20456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Pruebas &amp; Calidad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7545288" y="6826151"/>
            <a:ext cx="280095" cy="171450"/>
          </a:xfrm>
          <a:prstGeom prst="roundRect">
            <a:avLst>
              <a:gd name="adj" fmla="val 50000"/>
            </a:avLst>
          </a:prstGeom>
          <a:solidFill>
            <a:srgbClr val="F0EEE9"/>
          </a:solidFill>
          <a:ln/>
        </p:spPr>
      </p:sp>
      <p:sp>
        <p:nvSpPr>
          <p:cNvPr id="16" name="Text 14"/>
          <p:cNvSpPr/>
          <p:nvPr/>
        </p:nvSpPr>
        <p:spPr>
          <a:xfrm>
            <a:off x="7611963" y="6845201"/>
            <a:ext cx="2229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ED1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8158758" y="6683276"/>
            <a:ext cx="2049661" cy="457200"/>
          </a:xfrm>
          <a:prstGeom prst="roundRect">
            <a:avLst>
              <a:gd name="adj" fmla="val 50000"/>
            </a:avLst>
          </a:prstGeom>
          <a:ln w="9525">
            <a:solidFill>
              <a:srgbClr val="D861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8783" y="6807101"/>
            <a:ext cx="135046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7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9728299" y="6826151"/>
            <a:ext cx="280095" cy="171450"/>
          </a:xfrm>
          <a:prstGeom prst="roundRect">
            <a:avLst>
              <a:gd name="adj" fmla="val 50000"/>
            </a:avLst>
          </a:prstGeom>
          <a:solidFill>
            <a:srgbClr val="F0EEE9"/>
          </a:solidFill>
          <a:ln/>
        </p:spPr>
      </p:sp>
      <p:sp>
        <p:nvSpPr>
          <p:cNvPr id="20" name="Text 18"/>
          <p:cNvSpPr/>
          <p:nvPr/>
        </p:nvSpPr>
        <p:spPr>
          <a:xfrm>
            <a:off x="9794974" y="6845201"/>
            <a:ext cx="2229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ED1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33438"/>
            <a:ext cx="514350" cy="51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704850"/>
            <a:ext cx="49564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 01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638300" y="952500"/>
            <a:ext cx="495642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de Arquitectura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659910" y="98107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60" y="1028700"/>
            <a:ext cx="123825" cy="1238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36135" y="101441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14400" y="3848398"/>
            <a:ext cx="60662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200" dirty="0"/>
          </a:p>
        </p:txBody>
      </p:sp>
      <p:sp>
        <p:nvSpPr>
          <p:cNvPr id="9" name="Text 5"/>
          <p:cNvSpPr/>
          <p:nvPr/>
        </p:nvSpPr>
        <p:spPr>
          <a:xfrm>
            <a:off x="1654373" y="4448473"/>
            <a:ext cx="4120515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75" dirty="0">
                <a:solidFill>
                  <a:srgbClr val="564F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arquitecturas por sprint — capacidad actual del equipo</a:t>
            </a:r>
            <a:endParaRPr lang="en-US" sz="1575" dirty="0"/>
          </a:p>
        </p:txBody>
      </p:sp>
      <p:sp>
        <p:nvSpPr>
          <p:cNvPr id="10" name="Shape 6"/>
          <p:cNvSpPr/>
          <p:nvPr/>
        </p:nvSpPr>
        <p:spPr>
          <a:xfrm>
            <a:off x="914400" y="5578078"/>
            <a:ext cx="519425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5768578"/>
            <a:ext cx="53500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ESTAMOS HOY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6073378"/>
            <a:ext cx="5350078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Equipo de alta especialización y </a:t>
            </a:r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muy demandado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Recibe el DoR y, con base en él, diseña la arquitectura.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6546800" y="5578078"/>
            <a:ext cx="519425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4" name="Text 10"/>
          <p:cNvSpPr/>
          <p:nvPr/>
        </p:nvSpPr>
        <p:spPr>
          <a:xfrm>
            <a:off x="6546800" y="5768578"/>
            <a:ext cx="53500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IA · COPILOT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46800" y="6073378"/>
            <a:ext cx="5350078" cy="955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Apoyo en la </a:t>
            </a:r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documentación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 arquitecturas y la generación de </a:t>
            </a:r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diagramas C4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tareas que hoy consumen tiempo del experto.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12179201" y="5578078"/>
            <a:ext cx="519425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7" name="Text 13"/>
          <p:cNvSpPr/>
          <p:nvPr/>
        </p:nvSpPr>
        <p:spPr>
          <a:xfrm>
            <a:off x="12179201" y="5768578"/>
            <a:ext cx="53500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2179201" y="6073378"/>
            <a:ext cx="5350078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Superar las 6/sprint </a:t>
            </a:r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 sacrificar calidad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el juicio de arquitectura sigue siendo humano.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914400" y="9305925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20" name="Text 16"/>
          <p:cNvSpPr/>
          <p:nvPr/>
        </p:nvSpPr>
        <p:spPr>
          <a:xfrm>
            <a:off x="914400" y="9486900"/>
            <a:ext cx="18680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FRENTES CON IA </a:t>
            </a:r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02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16241762" y="9501188"/>
            <a:ext cx="120803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33438"/>
            <a:ext cx="514350" cy="51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704850"/>
            <a:ext cx="22462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 02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638300" y="952500"/>
            <a:ext cx="224626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Desarrollo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017913" y="98107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163" y="1028700"/>
            <a:ext cx="123825" cy="1238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94138" y="101441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14400" y="3198316"/>
            <a:ext cx="812330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b="1" spc="-117" kern="0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+400</a:t>
            </a:r>
            <a:endParaRPr lang="en-US" sz="5850" dirty="0"/>
          </a:p>
        </p:txBody>
      </p:sp>
      <p:sp>
        <p:nvSpPr>
          <p:cNvPr id="9" name="Text 5"/>
          <p:cNvSpPr/>
          <p:nvPr/>
        </p:nvSpPr>
        <p:spPr>
          <a:xfrm>
            <a:off x="914400" y="4074616"/>
            <a:ext cx="43167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64F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aplicaciones con stacks que quedan obsoletos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9486900" y="3045916"/>
            <a:ext cx="3714899" cy="1038225"/>
          </a:xfrm>
          <a:prstGeom prst="rect">
            <a:avLst/>
          </a:prstGeom>
          <a:solidFill>
            <a:srgbClr val="ED1C29"/>
          </a:solidFill>
          <a:ln/>
        </p:spPr>
      </p:sp>
      <p:sp>
        <p:nvSpPr>
          <p:cNvPr id="11" name="Text 7"/>
          <p:cNvSpPr/>
          <p:nvPr/>
        </p:nvSpPr>
        <p:spPr>
          <a:xfrm>
            <a:off x="9639300" y="3084016"/>
            <a:ext cx="352154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b="1" spc="-117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80h → 2h</a:t>
            </a:r>
            <a:endParaRPr lang="en-US" sz="5850" dirty="0"/>
          </a:p>
        </p:txBody>
      </p:sp>
      <p:sp>
        <p:nvSpPr>
          <p:cNvPr id="12" name="Text 8"/>
          <p:cNvSpPr/>
          <p:nvPr/>
        </p:nvSpPr>
        <p:spPr>
          <a:xfrm>
            <a:off x="9486900" y="4074616"/>
            <a:ext cx="431673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64F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 API migrada · +80% de reducción, según complejidad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14400" y="5122366"/>
            <a:ext cx="3786188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312866"/>
            <a:ext cx="38997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CÓMO ESTAMOS HOY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14400" y="5617666"/>
            <a:ext cx="3899773" cy="1261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Stacks que cambian de versión constantemente (p. ej. APIs .NET cada año) → </a:t>
            </a:r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riesgo de seguridad y mantenibilidad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5138738" y="5122366"/>
            <a:ext cx="3786188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7" name="Text 13"/>
          <p:cNvSpPr/>
          <p:nvPr/>
        </p:nvSpPr>
        <p:spPr>
          <a:xfrm>
            <a:off x="5138738" y="5312866"/>
            <a:ext cx="38997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VALIDADO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138738" y="5617666"/>
            <a:ext cx="3899773" cy="955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Migración de APIs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 Copilot a versiones soportadas, reduciendo deuda técnica.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9363075" y="5122366"/>
            <a:ext cx="3786188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0" name="Text 16"/>
          <p:cNvSpPr/>
          <p:nvPr/>
        </p:nvSpPr>
        <p:spPr>
          <a:xfrm>
            <a:off x="9363075" y="5312866"/>
            <a:ext cx="38997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EN CURSO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363075" y="5617666"/>
            <a:ext cx="3899773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Generación de </a:t>
            </a:r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APIs nuevas desde cero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 apoyo de IA.</a:t>
            </a:r>
            <a:endParaRPr lang="en-US" sz="1650" dirty="0"/>
          </a:p>
        </p:txBody>
      </p:sp>
      <p:sp>
        <p:nvSpPr>
          <p:cNvPr id="22" name="Shape 18"/>
          <p:cNvSpPr/>
          <p:nvPr/>
        </p:nvSpPr>
        <p:spPr>
          <a:xfrm>
            <a:off x="13587413" y="5122366"/>
            <a:ext cx="3786188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3" name="Text 19"/>
          <p:cNvSpPr/>
          <p:nvPr/>
        </p:nvSpPr>
        <p:spPr>
          <a:xfrm>
            <a:off x="13587413" y="5312866"/>
            <a:ext cx="38997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3587413" y="5617666"/>
            <a:ext cx="3899773" cy="955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Reducir la deuda técnica a escala, mantener stacks soportados y </a:t>
            </a:r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acelerar la entrega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914400" y="7355384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caso tangible de este frente es la demo en vivo: migración .NET 3.1 → .NET 8.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914400" y="9305925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27" name="Text 23"/>
          <p:cNvSpPr/>
          <p:nvPr/>
        </p:nvSpPr>
        <p:spPr>
          <a:xfrm>
            <a:off x="914400" y="9486900"/>
            <a:ext cx="18680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FRENTES CON IA </a:t>
            </a:r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02</a:t>
            </a:r>
            <a:endParaRPr lang="en-US" sz="1125" dirty="0"/>
          </a:p>
        </p:txBody>
      </p:sp>
      <p:sp>
        <p:nvSpPr>
          <p:cNvPr id="28" name="Text 24"/>
          <p:cNvSpPr/>
          <p:nvPr/>
        </p:nvSpPr>
        <p:spPr>
          <a:xfrm>
            <a:off x="16430476" y="9501188"/>
            <a:ext cx="101932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DESARROLLO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33438"/>
            <a:ext cx="514350" cy="51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704850"/>
            <a:ext cx="40009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 03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638300" y="952500"/>
            <a:ext cx="400094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Pruebas &amp; Calidad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732264" y="98107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514" y="1028700"/>
            <a:ext cx="123825" cy="1238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8489" y="101441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14400" y="4098429"/>
            <a:ext cx="107918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64F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estación de Pruebas agrupa tres frentes. En todos apoyamos con IA.</a:t>
            </a:r>
            <a:endParaRPr lang="en-US" sz="1575" dirty="0"/>
          </a:p>
        </p:txBody>
      </p:sp>
      <p:sp>
        <p:nvSpPr>
          <p:cNvPr id="9" name="Shape 5"/>
          <p:cNvSpPr/>
          <p:nvPr/>
        </p:nvSpPr>
        <p:spPr>
          <a:xfrm>
            <a:off x="914400" y="4803279"/>
            <a:ext cx="519425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5017591"/>
            <a:ext cx="12162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110311" y="4993779"/>
            <a:ext cx="998339" cy="238125"/>
          </a:xfrm>
          <a:prstGeom prst="roundRect">
            <a:avLst>
              <a:gd name="adj" fmla="val 50000"/>
            </a:avLst>
          </a:prstGeom>
          <a:ln w="9525">
            <a:solidFill>
              <a:srgbClr val="1A171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15086" y="5041404"/>
            <a:ext cx="8649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spc="103" kern="0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EXPLORANDO</a:t>
            </a:r>
            <a:endParaRPr lang="en-US" sz="863" dirty="0"/>
          </a:p>
        </p:txBody>
      </p:sp>
      <p:sp>
        <p:nvSpPr>
          <p:cNvPr id="13" name="Text 9"/>
          <p:cNvSpPr/>
          <p:nvPr/>
        </p:nvSpPr>
        <p:spPr>
          <a:xfrm>
            <a:off x="914400" y="5346204"/>
            <a:ext cx="5350078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Relación 2:1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dos desarrolladores por cada analista de calidad. QA queda corto frente al volumen.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914400" y="6072188"/>
            <a:ext cx="5350078" cy="343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 →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generar y documentar los escenarios de prueba.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6546800" y="4803279"/>
            <a:ext cx="519425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6" name="Text 12"/>
          <p:cNvSpPr/>
          <p:nvPr/>
        </p:nvSpPr>
        <p:spPr>
          <a:xfrm>
            <a:off x="6546800" y="5017591"/>
            <a:ext cx="1423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AUTOMATIZADAS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0979348" y="4993779"/>
            <a:ext cx="761702" cy="23812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084123" y="5041404"/>
            <a:ext cx="62835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spc="103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</a:t>
            </a:r>
            <a:endParaRPr lang="en-US" sz="863" dirty="0"/>
          </a:p>
        </p:txBody>
      </p:sp>
      <p:sp>
        <p:nvSpPr>
          <p:cNvPr id="19" name="Text 15"/>
          <p:cNvSpPr/>
          <p:nvPr/>
        </p:nvSpPr>
        <p:spPr>
          <a:xfrm>
            <a:off x="6546800" y="5346204"/>
            <a:ext cx="5350078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 las más complejas; a menudo </a:t>
            </a:r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se priorizan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 capacidad.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6546800" y="6072188"/>
            <a:ext cx="5350078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 →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generadas a partir de los escenarios ya documentados.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12179201" y="4803279"/>
            <a:ext cx="519425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2" name="Text 18"/>
          <p:cNvSpPr/>
          <p:nvPr/>
        </p:nvSpPr>
        <p:spPr>
          <a:xfrm>
            <a:off x="12179201" y="5017591"/>
            <a:ext cx="12162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16375112" y="4993779"/>
            <a:ext cx="998339" cy="238125"/>
          </a:xfrm>
          <a:prstGeom prst="roundRect">
            <a:avLst>
              <a:gd name="adj" fmla="val 50000"/>
            </a:avLst>
          </a:prstGeom>
          <a:ln w="9525">
            <a:solidFill>
              <a:srgbClr val="1A171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6479887" y="5041404"/>
            <a:ext cx="8649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spc="103" kern="0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EXPLORANDO</a:t>
            </a:r>
            <a:endParaRPr lang="en-US" sz="863" dirty="0"/>
          </a:p>
        </p:txBody>
      </p:sp>
      <p:sp>
        <p:nvSpPr>
          <p:cNvPr id="25" name="Text 21"/>
          <p:cNvSpPr/>
          <p:nvPr/>
        </p:nvSpPr>
        <p:spPr>
          <a:xfrm>
            <a:off x="12179201" y="5346204"/>
            <a:ext cx="5350078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JMeter: resultados </a:t>
            </a:r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difíciles de leer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mucho reproceso.</a:t>
            </a:r>
            <a:endParaRPr lang="en-US" sz="1650" dirty="0"/>
          </a:p>
        </p:txBody>
      </p:sp>
      <p:sp>
        <p:nvSpPr>
          <p:cNvPr id="26" name="Text 22"/>
          <p:cNvSpPr/>
          <p:nvPr/>
        </p:nvSpPr>
        <p:spPr>
          <a:xfrm>
            <a:off x="12179201" y="6072188"/>
            <a:ext cx="5350078" cy="649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650" b="1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IA → </a:t>
            </a:r>
            <a:pPr algn="l" indent="0" marL="0">
              <a:lnSpc>
                <a:spcPct val="146000"/>
              </a:lnSpc>
              <a:buNone/>
            </a:pPr>
            <a:r>
              <a:rPr lang="en-US" sz="16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informes estandarizados que cualquier rol entiende.</a:t>
            </a:r>
            <a:endParaRPr lang="en-US" sz="1650" dirty="0"/>
          </a:p>
        </p:txBody>
      </p:sp>
      <p:sp>
        <p:nvSpPr>
          <p:cNvPr id="27" name="Shape 23"/>
          <p:cNvSpPr/>
          <p:nvPr/>
        </p:nvSpPr>
        <p:spPr>
          <a:xfrm>
            <a:off x="914400" y="9305925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28" name="Text 24"/>
          <p:cNvSpPr/>
          <p:nvPr/>
        </p:nvSpPr>
        <p:spPr>
          <a:xfrm>
            <a:off x="914400" y="9486900"/>
            <a:ext cx="18680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FRENTES CON IA </a:t>
            </a:r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02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15770275" y="9501188"/>
            <a:ext cx="16795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PRUEBAS &amp; CALIDAD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33438"/>
            <a:ext cx="514350" cy="51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8300" y="704850"/>
            <a:ext cx="2749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 04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1638300" y="952500"/>
            <a:ext cx="274930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Operaciones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17082" y="981075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332" y="1028700"/>
            <a:ext cx="123825" cy="1238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93307" y="1014413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14400" y="1476375"/>
            <a:ext cx="1177290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564F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Buscamos una </a:t>
            </a:r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fuente de conocimiento única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564F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para Operaciones: que se mantenga al día sin esfuerzo manual y esté disponible donde el equipo la necesite.</a:t>
            </a:r>
            <a:endParaRPr lang="en-US" sz="1725" dirty="0"/>
          </a:p>
        </p:txBody>
      </p:sp>
      <p:sp>
        <p:nvSpPr>
          <p:cNvPr id="9" name="Shape 5"/>
          <p:cNvSpPr/>
          <p:nvPr/>
        </p:nvSpPr>
        <p:spPr>
          <a:xfrm>
            <a:off x="4913412" y="4788247"/>
            <a:ext cx="4191000" cy="2222004"/>
          </a:xfrm>
          <a:prstGeom prst="roundRect">
            <a:avLst>
              <a:gd name="adj" fmla="val 8573"/>
            </a:avLst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262" y="5131147"/>
            <a:ext cx="438150" cy="4381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7262" y="5740747"/>
            <a:ext cx="36495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Fuente de conocimiento</a:t>
            </a:r>
            <a:endParaRPr lang="en-US" sz="2250" dirty="0"/>
          </a:p>
        </p:txBody>
      </p:sp>
      <p:sp>
        <p:nvSpPr>
          <p:cNvPr id="12" name="Shape 7"/>
          <p:cNvSpPr/>
          <p:nvPr/>
        </p:nvSpPr>
        <p:spPr>
          <a:xfrm>
            <a:off x="5237262" y="6197947"/>
            <a:ext cx="559743" cy="219075"/>
          </a:xfrm>
          <a:prstGeom prst="roundRect">
            <a:avLst>
              <a:gd name="adj" fmla="val 50000"/>
            </a:avLst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512" y="6245572"/>
            <a:ext cx="123825" cy="1238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13487" y="6231285"/>
            <a:ext cx="2454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6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5901779" y="6197947"/>
            <a:ext cx="2965146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433D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alimenta y actualiza de forma automática.</a:t>
            </a:r>
            <a:endParaRPr lang="en-US" sz="1275" dirty="0"/>
          </a:p>
        </p:txBody>
      </p:sp>
      <p:sp>
        <p:nvSpPr>
          <p:cNvPr id="16" name="Text 10"/>
          <p:cNvSpPr/>
          <p:nvPr/>
        </p:nvSpPr>
        <p:spPr>
          <a:xfrm>
            <a:off x="9819680" y="4827687"/>
            <a:ext cx="8364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VÍA MCP</a:t>
            </a:r>
            <a:endParaRPr lang="en-US" sz="112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4412" y="5065812"/>
            <a:ext cx="2190750" cy="19050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11295162" y="4927699"/>
            <a:ext cx="2079427" cy="533400"/>
          </a:xfrm>
          <a:prstGeom prst="roundRect">
            <a:avLst>
              <a:gd name="adj" fmla="val 50000"/>
            </a:avLst>
          </a:prstGeom>
          <a:ln w="9525">
            <a:solidFill>
              <a:srgbClr val="1A1714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11571387" y="5146774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11790462" y="5080099"/>
            <a:ext cx="9652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 web</a:t>
            </a:r>
            <a:endParaRPr lang="en-US" sz="1575" dirty="0"/>
          </a:p>
        </p:txBody>
      </p:sp>
      <p:sp>
        <p:nvSpPr>
          <p:cNvPr id="21" name="Shape 14"/>
          <p:cNvSpPr/>
          <p:nvPr/>
        </p:nvSpPr>
        <p:spPr>
          <a:xfrm>
            <a:off x="11295162" y="5632549"/>
            <a:ext cx="2079427" cy="533400"/>
          </a:xfrm>
          <a:prstGeom prst="roundRect">
            <a:avLst>
              <a:gd name="adj" fmla="val 50000"/>
            </a:avLst>
          </a:prstGeom>
          <a:ln w="9525">
            <a:solidFill>
              <a:srgbClr val="1A1714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11571387" y="5851624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1790462" y="5784949"/>
            <a:ext cx="13766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 / Editores</a:t>
            </a:r>
            <a:endParaRPr lang="en-US" sz="1575" dirty="0"/>
          </a:p>
        </p:txBody>
      </p:sp>
      <p:sp>
        <p:nvSpPr>
          <p:cNvPr id="24" name="Shape 17"/>
          <p:cNvSpPr/>
          <p:nvPr/>
        </p:nvSpPr>
        <p:spPr>
          <a:xfrm>
            <a:off x="11295162" y="6337399"/>
            <a:ext cx="2079427" cy="533400"/>
          </a:xfrm>
          <a:prstGeom prst="roundRect">
            <a:avLst>
              <a:gd name="adj" fmla="val 50000"/>
            </a:avLst>
          </a:prstGeom>
          <a:ln w="9525">
            <a:solidFill>
              <a:srgbClr val="1A1714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1571387" y="6556474"/>
            <a:ext cx="95250" cy="95250"/>
          </a:xfrm>
          <a:prstGeom prst="ellipse">
            <a:avLst/>
          </a:prstGeom>
          <a:solidFill>
            <a:srgbClr val="ED1C29"/>
          </a:solidFill>
          <a:ln w="9525">
            <a:solidFill>
              <a:srgbClr val="1A171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11790462" y="6489799"/>
            <a:ext cx="13841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 / Terminal</a:t>
            </a:r>
            <a:endParaRPr lang="en-US" sz="1575" dirty="0"/>
          </a:p>
        </p:txBody>
      </p:sp>
      <p:sp>
        <p:nvSpPr>
          <p:cNvPr id="27" name="Shape 20"/>
          <p:cNvSpPr/>
          <p:nvPr/>
        </p:nvSpPr>
        <p:spPr>
          <a:xfrm>
            <a:off x="914400" y="9305925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28" name="Text 21"/>
          <p:cNvSpPr/>
          <p:nvPr/>
        </p:nvSpPr>
        <p:spPr>
          <a:xfrm>
            <a:off x="914400" y="9486900"/>
            <a:ext cx="18680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FRENTES CON IA </a:t>
            </a:r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02</a:t>
            </a:r>
            <a:endParaRPr lang="en-US" sz="1125" dirty="0"/>
          </a:p>
        </p:txBody>
      </p:sp>
      <p:sp>
        <p:nvSpPr>
          <p:cNvPr id="29" name="Text 22"/>
          <p:cNvSpPr/>
          <p:nvPr/>
        </p:nvSpPr>
        <p:spPr>
          <a:xfrm>
            <a:off x="16336119" y="9501188"/>
            <a:ext cx="11136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OPERACIONES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0485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285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ADOPCIÓN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952976" cy="567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50" b="1" spc="-8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 qué GitHub Copilot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14400" y="3994993"/>
            <a:ext cx="60960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109293"/>
            <a:ext cx="685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14500" y="4071193"/>
            <a:ext cx="73776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Confiabilidad del proveedor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14500" y="4442668"/>
            <a:ext cx="7377684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es de Microsoft: relación directa, historia y confianza. Integra con Entra ID. Decisión de bajo riesgo.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410700" y="3994993"/>
            <a:ext cx="60960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9" name="Text 7"/>
          <p:cNvSpPr/>
          <p:nvPr/>
        </p:nvSpPr>
        <p:spPr>
          <a:xfrm>
            <a:off x="9410700" y="4109293"/>
            <a:ext cx="685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210800" y="4071193"/>
            <a:ext cx="73776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Integración nativa con IDEs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210800" y="4442668"/>
            <a:ext cx="7377684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VS Code y Visual Studio — claves para nuestro stack principal, .NET y React.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914400" y="5346353"/>
            <a:ext cx="60960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460653"/>
            <a:ext cx="685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714500" y="5422553"/>
            <a:ext cx="73776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Los mejores modelos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14500" y="5794028"/>
            <a:ext cx="7377684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OpenAI, Anthropic, Google y más, en un solo ecosistema y sobre infraestructura de Microsoft.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410700" y="5346353"/>
            <a:ext cx="609600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7" name="Text 15"/>
          <p:cNvSpPr/>
          <p:nvPr/>
        </p:nvSpPr>
        <p:spPr>
          <a:xfrm>
            <a:off x="9410700" y="5460653"/>
            <a:ext cx="6858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210800" y="5422553"/>
            <a:ext cx="73776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Interfaces clave cubiertas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210800" y="5794028"/>
            <a:ext cx="7377684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Chat web, en editores/IDEs y en terminal (CLI).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914400" y="6831062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transparencia: las interfaces evolucionan a un ritmo algo menor que en otras herramientas; aun así, cubrimos las más relevantes.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14400" y="9305925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9486900"/>
            <a:ext cx="13022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03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5958840" y="9501188"/>
            <a:ext cx="1490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COPILOT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0485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285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ADOPCIÓN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952976" cy="567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50" b="1" spc="-8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Ruta de aprovisionamiento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572667" y="5204520"/>
            <a:ext cx="15142666" cy="1905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5" name="Shape 3"/>
          <p:cNvSpPr/>
          <p:nvPr/>
        </p:nvSpPr>
        <p:spPr>
          <a:xfrm>
            <a:off x="1804243" y="4766370"/>
            <a:ext cx="571500" cy="5715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5193" y="478542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118146" y="5528370"/>
            <a:ext cx="1943695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b="1" spc="-1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Decisión tecnológica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1550" y="5825430"/>
            <a:ext cx="2236887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3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Cursor · Windsurf · Codex</a:t>
            </a:r>
            <a:endParaRPr lang="en-US" sz="1088" dirty="0"/>
          </a:p>
        </p:txBody>
      </p:sp>
      <p:sp>
        <p:nvSpPr>
          <p:cNvPr id="9" name="Shape 7"/>
          <p:cNvSpPr/>
          <p:nvPr/>
        </p:nvSpPr>
        <p:spPr>
          <a:xfrm>
            <a:off x="4155430" y="4766370"/>
            <a:ext cx="571500" cy="5715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6380" y="478542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4215408" y="5528370"/>
            <a:ext cx="451545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b="1" spc="-1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22737" y="5825430"/>
            <a:ext cx="223703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3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 de Ingeniería de Software</a:t>
            </a:r>
            <a:endParaRPr lang="en-US" sz="1088" dirty="0"/>
          </a:p>
        </p:txBody>
      </p:sp>
      <p:sp>
        <p:nvSpPr>
          <p:cNvPr id="13" name="Shape 11"/>
          <p:cNvSpPr/>
          <p:nvPr/>
        </p:nvSpPr>
        <p:spPr>
          <a:xfrm>
            <a:off x="6506766" y="4766370"/>
            <a:ext cx="571500" cy="5715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7716" y="478542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835700" y="5528370"/>
            <a:ext cx="1913781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b="1" spc="-1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Diseño de seguridad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75784" y="5825430"/>
            <a:ext cx="1033611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3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la PoC</a:t>
            </a:r>
            <a:endParaRPr lang="en-US" sz="1088" dirty="0"/>
          </a:p>
        </p:txBody>
      </p:sp>
      <p:sp>
        <p:nvSpPr>
          <p:cNvPr id="17" name="Shape 15"/>
          <p:cNvSpPr/>
          <p:nvPr/>
        </p:nvSpPr>
        <p:spPr>
          <a:xfrm>
            <a:off x="8858101" y="4766370"/>
            <a:ext cx="571500" cy="5715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39051" y="478542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8072586" y="5528370"/>
            <a:ext cx="2142679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b="1" spc="-1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Comunidad de práctica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48489" y="5825430"/>
            <a:ext cx="199087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3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difusión y aprendizaje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1209437" y="4766370"/>
            <a:ext cx="571500" cy="5715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90387" y="478542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1198275" y="5528370"/>
            <a:ext cx="59397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b="1" spc="-1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Piloto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376743" y="5825430"/>
            <a:ext cx="223703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3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reducido por equipo</a:t>
            </a:r>
            <a:endParaRPr lang="en-US" sz="1088" dirty="0"/>
          </a:p>
        </p:txBody>
      </p:sp>
      <p:sp>
        <p:nvSpPr>
          <p:cNvPr id="25" name="Shape 23"/>
          <p:cNvSpPr/>
          <p:nvPr/>
        </p:nvSpPr>
        <p:spPr>
          <a:xfrm>
            <a:off x="13560772" y="4766370"/>
            <a:ext cx="571500" cy="5715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41722" y="478542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3392745" y="5528370"/>
            <a:ext cx="90770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b="1" spc="-1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Gobierno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7702" y="5825430"/>
            <a:ext cx="207778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3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lineamientos y métricas</a:t>
            </a:r>
            <a:endParaRPr lang="en-US" sz="1088" dirty="0"/>
          </a:p>
        </p:txBody>
      </p:sp>
      <p:sp>
        <p:nvSpPr>
          <p:cNvPr id="29" name="Shape 27"/>
          <p:cNvSpPr/>
          <p:nvPr/>
        </p:nvSpPr>
        <p:spPr>
          <a:xfrm>
            <a:off x="15912108" y="4766370"/>
            <a:ext cx="571500" cy="571500"/>
          </a:xfrm>
          <a:prstGeom prst="ellipse">
            <a:avLst/>
          </a:prstGeom>
          <a:solidFill>
            <a:srgbClr val="F0EEE9"/>
          </a:solidFill>
          <a:ln w="19050">
            <a:solidFill>
              <a:srgbClr val="1A17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893058" y="478542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5599569" y="5528370"/>
            <a:ext cx="1196727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b="1" spc="-15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Masificación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333018" y="5825430"/>
            <a:ext cx="172968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88" spc="3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despliegue ampliado</a:t>
            </a:r>
            <a:endParaRPr lang="en-US" sz="1088" dirty="0"/>
          </a:p>
        </p:txBody>
      </p:sp>
      <p:sp>
        <p:nvSpPr>
          <p:cNvPr id="33" name="Shape 31"/>
          <p:cNvSpPr/>
          <p:nvPr/>
        </p:nvSpPr>
        <p:spPr>
          <a:xfrm>
            <a:off x="914400" y="9305925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9486900"/>
            <a:ext cx="13022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03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5015716" y="9501188"/>
            <a:ext cx="24340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RUTA DE APROVISIONAMIENTO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0485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285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RESULTADOS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952976" cy="567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050" b="1" spc="-81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Métricas &amp; time-to-market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14400" y="3370213"/>
            <a:ext cx="1695297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 DE USO · ENTREGA DE VALOR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914400" y="3655963"/>
            <a:ext cx="1705421" cy="885825"/>
          </a:xfrm>
          <a:prstGeom prst="rect">
            <a:avLst/>
          </a:prstGeom>
          <a:solidFill>
            <a:srgbClr val="ED1C29"/>
          </a:solidFill>
          <a:ln/>
        </p:spPr>
      </p:sp>
      <p:sp>
        <p:nvSpPr>
          <p:cNvPr id="6" name="Text 4"/>
          <p:cNvSpPr/>
          <p:nvPr/>
        </p:nvSpPr>
        <p:spPr>
          <a:xfrm>
            <a:off x="1028700" y="3675013"/>
            <a:ext cx="1553021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spc="-153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−80%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914400" y="4541788"/>
            <a:ext cx="80055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 h </a:t>
            </a:r>
            <a:pPr algn="l" indent="0" marL="0">
              <a:buNone/>
            </a:pPr>
            <a:r>
              <a:rPr lang="en-US" sz="1875" b="1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buNone/>
            </a:pPr>
            <a:r>
              <a:rPr lang="en-US" sz="1875" b="1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 h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14400" y="4989463"/>
            <a:ext cx="3845814" cy="578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Migración de APIs, por API, según complejidad y nº de escenarios.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0" y="3779788"/>
            <a:ext cx="9525" cy="1750516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10" name="Text 8"/>
          <p:cNvSpPr/>
          <p:nvPr/>
        </p:nvSpPr>
        <p:spPr>
          <a:xfrm>
            <a:off x="9610725" y="3779788"/>
            <a:ext cx="752484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spc="-153" kern="0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153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/sprint</a:t>
            </a:r>
            <a:endParaRPr lang="en-US" sz="5100" dirty="0"/>
          </a:p>
        </p:txBody>
      </p:sp>
      <p:sp>
        <p:nvSpPr>
          <p:cNvPr id="11" name="Text 9"/>
          <p:cNvSpPr/>
          <p:nvPr/>
        </p:nvSpPr>
        <p:spPr>
          <a:xfrm>
            <a:off x="9610725" y="4560838"/>
            <a:ext cx="3845814" cy="849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Capacidad del equipo de Arquitectura. Objetivo: superarla con apoyo de IA en documentación y diagramas C4.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968454"/>
            <a:ext cx="1695297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spc="15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COPILOT · SOPORTE A LA MEDICIÓN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14400" y="6378029"/>
            <a:ext cx="800557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50" b="1" spc="-112" kern="0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→ 11 → +30</a:t>
            </a:r>
            <a:endParaRPr lang="en-US" sz="3750" dirty="0"/>
          </a:p>
        </p:txBody>
      </p:sp>
      <p:sp>
        <p:nvSpPr>
          <p:cNvPr id="14" name="Text 12"/>
          <p:cNvSpPr/>
          <p:nvPr/>
        </p:nvSpPr>
        <p:spPr>
          <a:xfrm>
            <a:off x="914400" y="6987629"/>
            <a:ext cx="3845814" cy="578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Licencias en adopción: inicio → exploración de nuevos casos → fase actual de piloto.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0" y="6378029"/>
            <a:ext cx="9525" cy="1230362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16" name="Text 14"/>
          <p:cNvSpPr/>
          <p:nvPr/>
        </p:nvSpPr>
        <p:spPr>
          <a:xfrm>
            <a:off x="9610725" y="6378029"/>
            <a:ext cx="75248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Telemetría de uso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10725" y="6797129"/>
            <a:ext cx="3845814" cy="849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50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Usuarios activos, sugerencias aceptadas y actividad por IDE: insumos que respaldan el seguimiento de estas mediciones.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9305925"/>
            <a:ext cx="16459200" cy="9525"/>
          </a:xfrm>
          <a:prstGeom prst="rect">
            <a:avLst/>
          </a:prstGeom>
          <a:solidFill>
            <a:srgbClr val="DEDBD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9486900"/>
            <a:ext cx="14908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68" kern="0" dirty="0">
                <a:solidFill>
                  <a:srgbClr val="564F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04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4921359" y="9501188"/>
            <a:ext cx="25284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867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CIFRAS DE ENTREGA DE VALOR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2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76650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285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DEMO EN VIVO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4038600"/>
            <a:ext cx="402639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0" b="1" spc="-203" kern="0" dirty="0">
                <a:solidFill>
                  <a:srgbClr val="F0E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.NET 3.1</a:t>
            </a:r>
            <a:endParaRPr lang="en-US" sz="6750" dirty="0"/>
          </a:p>
        </p:txBody>
      </p:sp>
      <p:sp>
        <p:nvSpPr>
          <p:cNvPr id="4" name="Text 2"/>
          <p:cNvSpPr/>
          <p:nvPr/>
        </p:nvSpPr>
        <p:spPr>
          <a:xfrm>
            <a:off x="5204520" y="4143375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F0EEE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6233220" y="4038600"/>
            <a:ext cx="3236714" cy="857250"/>
          </a:xfrm>
          <a:prstGeom prst="rect">
            <a:avLst/>
          </a:prstGeom>
          <a:solidFill>
            <a:srgbClr val="F0EEE9"/>
          </a:solidFill>
          <a:ln/>
        </p:spPr>
      </p:sp>
      <p:sp>
        <p:nvSpPr>
          <p:cNvPr id="6" name="Text 4"/>
          <p:cNvSpPr/>
          <p:nvPr/>
        </p:nvSpPr>
        <p:spPr>
          <a:xfrm>
            <a:off x="6385620" y="4038600"/>
            <a:ext cx="302901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0" b="1" spc="-203" kern="0" dirty="0">
                <a:solidFill>
                  <a:srgbClr val="C2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.NET 8</a:t>
            </a:r>
            <a:endParaRPr lang="en-US" sz="6750" dirty="0"/>
          </a:p>
        </p:txBody>
      </p:sp>
      <p:sp>
        <p:nvSpPr>
          <p:cNvPr id="7" name="Text 5"/>
          <p:cNvSpPr/>
          <p:nvPr/>
        </p:nvSpPr>
        <p:spPr>
          <a:xfrm>
            <a:off x="914400" y="5067300"/>
            <a:ext cx="1695297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F0EEE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Migración de una API, en vivo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14400" y="5753100"/>
            <a:ext cx="169529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2EE">
                    <a:alpha val="85000"/>
                  </a:srgbClr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caso tangible del frente de Desarrollo.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6362700"/>
            <a:ext cx="1223516" cy="342900"/>
          </a:xfrm>
          <a:prstGeom prst="roundRect">
            <a:avLst>
              <a:gd name="adj" fmla="val 50000"/>
            </a:avLst>
          </a:prstGeom>
          <a:solidFill>
            <a:srgbClr val="F0EEE9"/>
          </a:solidFill>
          <a:ln/>
        </p:spPr>
      </p:sp>
      <p:sp>
        <p:nvSpPr>
          <p:cNvPr id="10" name="Shape 8"/>
          <p:cNvSpPr/>
          <p:nvPr/>
        </p:nvSpPr>
        <p:spPr>
          <a:xfrm>
            <a:off x="1066800" y="6486525"/>
            <a:ext cx="95250" cy="95250"/>
          </a:xfrm>
          <a:prstGeom prst="ellipse">
            <a:avLst/>
          </a:prstGeom>
          <a:solidFill>
            <a:srgbClr val="C20E1A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448425"/>
            <a:ext cx="8044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C2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VIVO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787676"/>
            <a:ext cx="1695297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spc="285" kern="0" dirty="0">
                <a:solidFill>
                  <a:srgbClr val="B3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INTERCAMBIO DE CONOCIMIENTO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914400" y="4016276"/>
            <a:ext cx="16952976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189" kern="0" dirty="0">
                <a:solidFill>
                  <a:srgbClr val="1A17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Conversemos.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5206901"/>
            <a:ext cx="804481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33D3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Frentes con IA: Arquitectura · Desarrollo · Pruebas · Operaciones.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6175474"/>
            <a:ext cx="551111" cy="419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94111" y="6194524"/>
            <a:ext cx="9525" cy="381000"/>
          </a:xfrm>
          <a:prstGeom prst="rect">
            <a:avLst/>
          </a:prstGeom>
          <a:solidFill>
            <a:srgbClr val="DEDBD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236" y="6246912"/>
            <a:ext cx="644426" cy="276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2026-06-02T14:01:02Z</dcterms:created>
  <dcterms:modified xsi:type="dcterms:W3CDTF">2026-06-02T14:01:02Z</dcterms:modified>
</cp:coreProperties>
</file>